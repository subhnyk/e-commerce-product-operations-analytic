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D" userId="36e8be8451b0a232" providerId="LiveId" clId="{D5111E23-0074-40B7-BBE6-648B0273B59F}"/>
    <pc:docChg chg="modSld">
      <pc:chgData name="S D" userId="36e8be8451b0a232" providerId="LiveId" clId="{D5111E23-0074-40B7-BBE6-648B0273B59F}" dt="2026-08-24T09:48:41.601" v="0" actId="1076"/>
      <pc:docMkLst>
        <pc:docMk/>
      </pc:docMkLst>
      <pc:sldChg chg="modSp mod">
        <pc:chgData name="S D" userId="36e8be8451b0a232" providerId="LiveId" clId="{D5111E23-0074-40B7-BBE6-648B0273B59F}" dt="2026-08-24T09:48:41.601" v="0" actId="1076"/>
        <pc:sldMkLst>
          <pc:docMk/>
          <pc:sldMk cId="0" sldId="271"/>
        </pc:sldMkLst>
        <pc:picChg chg="mod">
          <ac:chgData name="S D" userId="36e8be8451b0a232" providerId="LiveId" clId="{D5111E23-0074-40B7-BBE6-648B0273B59F}" dt="2026-08-24T09:48:41.601" v="0" actId="1076"/>
          <ac:picMkLst>
            <pc:docMk/>
            <pc:sldMk cId="0" sldId="271"/>
            <ac:picMk id="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7135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Supply Chain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99971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BDD7EE"/>
                </a:solidFill>
                <a:latin typeface="Calibri"/>
              </a:rPr>
              <a:t>Turning 180,519 orders into actionable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99971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Calibri"/>
              </a:rPr>
              <a:t>A data-driven review of sales, profitability, logistics, and late-delivery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06240"/>
            <a:ext cx="27432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BDD7EE"/>
                </a:solidFill>
                <a:latin typeface="Calibri"/>
              </a:rPr>
              <a:t>Tools: Python · Jupyter · scikit-learn ·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BDD7EE"/>
                </a:solidFill>
                <a:latin typeface="Calibri"/>
              </a:rPr>
              <a:t>Data: DataCoSupplyChainDataset · tokenized_access_logs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BDD7EE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Calibri"/>
              </a:rPr>
              <a:t>What we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•  </a:t>
            </a:r>
            <a:r>
              <a:rPr sz="2000" b="0">
                <a:solidFill>
                  <a:srgbClr val="333333"/>
                </a:solidFill>
                <a:latin typeface="Calibri"/>
              </a:rPr>
              <a:t>Phase 1 — Data Understanding &amp; Preprocessing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•  </a:t>
            </a:r>
            <a:r>
              <a:rPr sz="2000" b="0">
                <a:solidFill>
                  <a:srgbClr val="333333"/>
                </a:solidFill>
                <a:latin typeface="Calibri"/>
              </a:rPr>
              <a:t>Phase 2 — Univariate (KPI) Analysis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•  </a:t>
            </a:r>
            <a:r>
              <a:rPr sz="2000" b="0">
                <a:solidFill>
                  <a:srgbClr val="333333"/>
                </a:solidFill>
                <a:latin typeface="Calibri"/>
              </a:rPr>
              <a:t>Phase 3 — Bivariate Analysis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•  </a:t>
            </a:r>
            <a:r>
              <a:rPr sz="2000" b="0">
                <a:solidFill>
                  <a:srgbClr val="333333"/>
                </a:solidFill>
                <a:latin typeface="Calibri"/>
              </a:rPr>
              <a:t>Phase 4 — Multivariate Analysis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•  </a:t>
            </a:r>
            <a:r>
              <a:rPr sz="2000" b="0">
                <a:solidFill>
                  <a:srgbClr val="333333"/>
                </a:solidFill>
                <a:latin typeface="Calibri"/>
              </a:rPr>
              <a:t>Phase 5 — Statistical Distributions &amp; the Central Limit Theorem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•  </a:t>
            </a:r>
            <a:r>
              <a:rPr sz="2000" b="0">
                <a:solidFill>
                  <a:srgbClr val="333333"/>
                </a:solidFill>
                <a:latin typeface="Calibri"/>
              </a:rPr>
              <a:t>Phase 6 — Hypothesis Testing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•  </a:t>
            </a:r>
            <a:r>
              <a:rPr sz="2000" b="0">
                <a:solidFill>
                  <a:srgbClr val="333333"/>
                </a:solidFill>
                <a:latin typeface="Calibri"/>
              </a:rPr>
              <a:t>Phase 7 — Feature Engineering &amp; Preprocessing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•  </a:t>
            </a:r>
            <a:r>
              <a:rPr sz="2000" b="0">
                <a:solidFill>
                  <a:srgbClr val="333333"/>
                </a:solidFill>
                <a:latin typeface="Calibri"/>
              </a:rPr>
              <a:t>Phase 8 — Machine Learning Modeling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•  </a:t>
            </a:r>
            <a:r>
              <a:rPr sz="2000" b="1">
                <a:solidFill>
                  <a:srgbClr val="333333"/>
                </a:solidFill>
                <a:latin typeface="Calibri"/>
              </a:rPr>
              <a:t>Power BI Dashboard Tour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•  </a:t>
            </a:r>
            <a:r>
              <a:rPr sz="2000" b="1">
                <a:solidFill>
                  <a:srgbClr val="333333"/>
                </a:solidFill>
                <a:latin typeface="Calibri"/>
              </a:rPr>
              <a:t>Recommendations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DD7EE"/>
                </a:solidFill>
                <a:latin typeface="Calibr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Data Understanding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8495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Calibri"/>
              </a:rPr>
              <a:t>180,519 orders · 53 features · 4 columns with missing data · 0 duplicates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Slide 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Dataset shape &amp; feature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56032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180,519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Total orders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56032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325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65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Total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256032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325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965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Business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188720"/>
            <a:ext cx="256032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1325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965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ID columns excluded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68580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1">
                <a:solidFill>
                  <a:srgbClr val="333333"/>
                </a:solidFill>
                <a:latin typeface="Calibri"/>
              </a:rPr>
              <a:t>24</a:t>
            </a:r>
            <a:r>
              <a:rPr sz="1400" b="0">
                <a:solidFill>
                  <a:srgbClr val="333333"/>
                </a:solidFill>
                <a:latin typeface="Calibri"/>
              </a:rPr>
              <a:t> categorical features (transaction type, delivery status, region…)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1">
                <a:solidFill>
                  <a:srgbClr val="333333"/>
                </a:solidFill>
                <a:latin typeface="Calibri"/>
              </a:rPr>
              <a:t>14</a:t>
            </a:r>
            <a:r>
              <a:rPr sz="1400" b="0">
                <a:solidFill>
                  <a:srgbClr val="333333"/>
                </a:solidFill>
                <a:latin typeface="Calibri"/>
              </a:rPr>
              <a:t> integer features (IDs, days, quantity)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1">
                <a:solidFill>
                  <a:srgbClr val="333333"/>
                </a:solidFill>
                <a:latin typeface="Calibri"/>
              </a:rPr>
              <a:t>15</a:t>
            </a:r>
            <a:r>
              <a:rPr sz="1400" b="0">
                <a:solidFill>
                  <a:srgbClr val="333333"/>
                </a:solidFill>
                <a:latin typeface="Calibri"/>
              </a:rPr>
              <a:t> float features (sales, profit, discount, lat/long…)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0">
                <a:solidFill>
                  <a:srgbClr val="333333"/>
                </a:solidFill>
                <a:latin typeface="Calibri"/>
              </a:rPr>
              <a:t>Two datasets merged — orders (180K) + clickstream (470K)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41148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Six business dimensions:</a:t>
            </a:r>
          </a:p>
          <a:p>
            <a:pPr algn="l"/>
            <a:endParaRPr sz="1300" b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Customer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Product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Order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Financial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Logistics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Geography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Calibri"/>
              </a:rPr>
              <a:t>Speaker note: covers every dimension needed for end-to-end supply chain analysis.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 quality &amp; cleaning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743200" cy="118872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Duplicate 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188720"/>
            <a:ext cx="274320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325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 /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Cols with nulls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274320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Cols dropped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188720"/>
            <a:ext cx="219456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3258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latin1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9659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Encoding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68580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1">
                <a:solidFill>
                  <a:srgbClr val="333333"/>
                </a:solidFill>
                <a:latin typeface="Calibri"/>
              </a:rPr>
              <a:t>Product Description</a:t>
            </a:r>
            <a:r>
              <a:rPr sz="1400" b="0">
                <a:solidFill>
                  <a:srgbClr val="333333"/>
                </a:solidFill>
                <a:latin typeface="Calibri"/>
              </a:rPr>
              <a:t> — 100% missing (180,519 nulls) → </a:t>
            </a:r>
            <a:r>
              <a:rPr sz="1400" b="1">
                <a:solidFill>
                  <a:srgbClr val="333333"/>
                </a:solidFill>
                <a:latin typeface="Calibri"/>
              </a:rPr>
              <a:t>dropped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1">
                <a:solidFill>
                  <a:srgbClr val="333333"/>
                </a:solidFill>
                <a:latin typeface="Calibri"/>
              </a:rPr>
              <a:t>Order Zipcode</a:t>
            </a:r>
            <a:r>
              <a:rPr sz="1400" b="0">
                <a:solidFill>
                  <a:srgbClr val="333333"/>
                </a:solidFill>
                <a:latin typeface="Calibri"/>
              </a:rPr>
              <a:t> — 86.24% missing (155,679 nulls) → </a:t>
            </a:r>
            <a:r>
              <a:rPr sz="1400" b="1">
                <a:solidFill>
                  <a:srgbClr val="333333"/>
                </a:solidFill>
                <a:latin typeface="Calibri"/>
              </a:rPr>
              <a:t>dropped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1">
                <a:solidFill>
                  <a:srgbClr val="333333"/>
                </a:solidFill>
                <a:latin typeface="Calibri"/>
              </a:rPr>
              <a:t>Customer Lname</a:t>
            </a:r>
            <a:r>
              <a:rPr sz="1400" b="0">
                <a:solidFill>
                  <a:srgbClr val="333333"/>
                </a:solidFill>
                <a:latin typeface="Calibri"/>
              </a:rPr>
              <a:t> — 0.004% missing (8 rows) → filled with "Unknown"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1">
                <a:solidFill>
                  <a:srgbClr val="333333"/>
                </a:solidFill>
                <a:latin typeface="Calibri"/>
              </a:rPr>
              <a:t>Customer Zipcode</a:t>
            </a:r>
            <a:r>
              <a:rPr sz="1400" b="0">
                <a:solidFill>
                  <a:srgbClr val="333333"/>
                </a:solidFill>
                <a:latin typeface="Calibri"/>
              </a:rPr>
              <a:t> — 0.002% missing (3 rows) → filled with mode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0">
                <a:solidFill>
                  <a:srgbClr val="333333"/>
                </a:solidFill>
                <a:latin typeface="Calibri"/>
              </a:rPr>
              <a:t>File decoded with </a:t>
            </a:r>
            <a:r>
              <a:rPr sz="1400" b="1">
                <a:solidFill>
                  <a:srgbClr val="333333"/>
                </a:solidFill>
                <a:latin typeface="Calibri"/>
              </a:rPr>
              <a:t>latin1</a:t>
            </a:r>
            <a:r>
              <a:rPr sz="1400" b="0">
                <a:solidFill>
                  <a:srgbClr val="333333"/>
                </a:solidFill>
                <a:latin typeface="Calibri"/>
              </a:rPr>
              <a:t> (UTF-8 failed on special characters)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743200"/>
            <a:ext cx="3840480" cy="274320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79" y="2880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Cleaning philosophy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246120"/>
            <a:ext cx="36576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Preserve every usable column.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Drop only when &gt;80% missing.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Impute the long tail of near-empty columns with sensible defaults (mode / "Unknown").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• Never overwrite real nulls with synthetic zeros.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DD7EE"/>
                </a:solidFill>
                <a:latin typeface="Calibri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Univariate KPI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8495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Calibri"/>
              </a:rPr>
              <a:t>$36.78M total sales · 54.83% late risk · 2.13 items per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Slide 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Sales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Calibri"/>
              </a:rPr>
              <a:t>Right-skewed, log-normal shape</a:t>
            </a:r>
          </a:p>
        </p:txBody>
      </p:sp>
      <p:pic>
        <p:nvPicPr>
          <p:cNvPr id="6" name="Picture 5" descr="01_sale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280160"/>
            <a:ext cx="4297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1">
                <a:solidFill>
                  <a:srgbClr val="333333"/>
                </a:solidFill>
                <a:latin typeface="Calibri"/>
              </a:rPr>
              <a:t>Total Sales ≈ $36.78M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0">
                <a:solidFill>
                  <a:srgbClr val="333333"/>
                </a:solidFill>
                <a:latin typeface="Calibri"/>
              </a:rPr>
              <a:t>Mean sale = </a:t>
            </a:r>
            <a:r>
              <a:rPr sz="1400" b="1">
                <a:solidFill>
                  <a:srgbClr val="333333"/>
                </a:solidFill>
                <a:latin typeface="Calibri"/>
              </a:rPr>
              <a:t>$203.77</a:t>
            </a:r>
            <a:r>
              <a:rPr sz="1400" b="0">
                <a:solidFill>
                  <a:srgbClr val="333333"/>
                </a:solidFill>
                <a:latin typeface="Calibri"/>
              </a:rPr>
              <a:t>, Median = </a:t>
            </a:r>
            <a:r>
              <a:rPr sz="1400" b="1">
                <a:solidFill>
                  <a:srgbClr val="333333"/>
                </a:solidFill>
                <a:latin typeface="Calibri"/>
              </a:rPr>
              <a:t>$199.92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0">
                <a:solidFill>
                  <a:srgbClr val="333333"/>
                </a:solidFill>
                <a:latin typeface="Calibri"/>
              </a:rPr>
              <a:t>Mode = </a:t>
            </a:r>
            <a:r>
              <a:rPr sz="1400" b="1">
                <a:solidFill>
                  <a:srgbClr val="333333"/>
                </a:solidFill>
                <a:latin typeface="Calibri"/>
              </a:rPr>
              <a:t>$129.99</a:t>
            </a:r>
            <a:r>
              <a:rPr sz="1400" b="0">
                <a:solidFill>
                  <a:srgbClr val="333333"/>
                </a:solidFill>
                <a:latin typeface="Calibri"/>
              </a:rPr>
              <a:t>, Max = </a:t>
            </a:r>
            <a:r>
              <a:rPr sz="1400" b="1">
                <a:solidFill>
                  <a:srgbClr val="333333"/>
                </a:solidFill>
                <a:latin typeface="Calibri"/>
              </a:rPr>
              <a:t>$1,999.99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0">
                <a:solidFill>
                  <a:srgbClr val="333333"/>
                </a:solidFill>
                <a:latin typeface="Calibri"/>
              </a:rPr>
              <a:t>Skewness = </a:t>
            </a:r>
            <a:r>
              <a:rPr sz="1400" b="1">
                <a:solidFill>
                  <a:srgbClr val="333333"/>
                </a:solidFill>
                <a:latin typeface="Calibri"/>
              </a:rPr>
              <a:t>2.88</a:t>
            </a:r>
            <a:r>
              <a:rPr sz="1400" b="0">
                <a:solidFill>
                  <a:srgbClr val="333333"/>
                </a:solidFill>
                <a:latin typeface="Calibri"/>
              </a:rPr>
              <a:t>, Kurtosis = </a:t>
            </a:r>
            <a:r>
              <a:rPr sz="1400" b="1">
                <a:solidFill>
                  <a:srgbClr val="333333"/>
                </a:solidFill>
                <a:latin typeface="Calibri"/>
              </a:rPr>
              <a:t>23.94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0">
                <a:solidFill>
                  <a:srgbClr val="333333"/>
                </a:solidFill>
                <a:latin typeface="Calibri"/>
              </a:rPr>
              <a:t>Only </a:t>
            </a:r>
            <a:r>
              <a:rPr sz="1400" b="1">
                <a:solidFill>
                  <a:srgbClr val="333333"/>
                </a:solidFill>
                <a:latin typeface="Calibri"/>
              </a:rPr>
              <a:t>488 orders (0.27%)</a:t>
            </a:r>
            <a:r>
              <a:rPr sz="1400" b="0">
                <a:solidFill>
                  <a:srgbClr val="333333"/>
                </a:solidFill>
                <a:latin typeface="Calibri"/>
              </a:rPr>
              <a:t> are statistical outliers above $569.91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Insight: a small number of high-value orders drive a disproportionate share of revenue.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Benefit per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Calibri"/>
              </a:rPr>
              <a:t>A long loss tail drags the mean below the median</a:t>
            </a:r>
          </a:p>
        </p:txBody>
      </p:sp>
      <p:pic>
        <p:nvPicPr>
          <p:cNvPr id="6" name="Picture 5" descr="02_benefi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280160"/>
            <a:ext cx="4297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1">
                <a:solidFill>
                  <a:srgbClr val="333333"/>
                </a:solidFill>
                <a:latin typeface="Calibri"/>
              </a:rPr>
              <a:t>Mean benefit = $21.97 / order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1">
                <a:solidFill>
                  <a:srgbClr val="333333"/>
                </a:solidFill>
                <a:latin typeface="Calibri"/>
              </a:rPr>
              <a:t>Median benefit = $31.52 (mean &lt; median → left-skewed)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0">
                <a:solidFill>
                  <a:srgbClr val="333333"/>
                </a:solidFill>
                <a:latin typeface="Calibri"/>
              </a:rPr>
              <a:t>Worst loss = </a:t>
            </a:r>
            <a:r>
              <a:rPr sz="1400" b="1">
                <a:solidFill>
                  <a:srgbClr val="333333"/>
                </a:solidFill>
                <a:latin typeface="Calibri"/>
              </a:rPr>
              <a:t>−$4,274.98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0">
                <a:solidFill>
                  <a:srgbClr val="333333"/>
                </a:solidFill>
                <a:latin typeface="Calibri"/>
              </a:rPr>
              <a:t>18,942 orders (10.49%) fall below −$79.70 — heavy loss tail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•  </a:t>
            </a:r>
            <a:r>
              <a:rPr sz="1400" b="0">
                <a:solidFill>
                  <a:srgbClr val="333333"/>
                </a:solidFill>
                <a:latin typeface="Calibri"/>
              </a:rPr>
              <a:t>These losses are concentrated in fraud and over-discounted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Calibri"/>
              </a:rPr>
              <a:t>Insight: half of orders deliver $30+ profit, but ~10% of orders wipe out the margin.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Shipping days &amp; discount</a:t>
            </a:r>
          </a:p>
        </p:txBody>
      </p:sp>
      <p:pic>
        <p:nvPicPr>
          <p:cNvPr id="5" name="Picture 4" descr="13_shipping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943600" cy="39496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3035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Shipping days (actual)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Mean </a:t>
            </a:r>
            <a:r>
              <a:rPr sz="1300" b="1">
                <a:solidFill>
                  <a:srgbClr val="333333"/>
                </a:solidFill>
                <a:latin typeface="Calibri"/>
              </a:rPr>
              <a:t>3.50</a:t>
            </a:r>
            <a:r>
              <a:rPr sz="1300" b="0">
                <a:solidFill>
                  <a:srgbClr val="333333"/>
                </a:solidFill>
                <a:latin typeface="Calibri"/>
              </a:rPr>
              <a:t> · Median </a:t>
            </a:r>
            <a:r>
              <a:rPr sz="1300" b="1">
                <a:solidFill>
                  <a:srgbClr val="333333"/>
                </a:solidFill>
                <a:latin typeface="Calibri"/>
              </a:rPr>
              <a:t>3.0</a:t>
            </a:r>
            <a:r>
              <a:rPr sz="1300" b="0">
                <a:solidFill>
                  <a:srgbClr val="333333"/>
                </a:solidFill>
                <a:latin typeface="Calibri"/>
              </a:rPr>
              <a:t> · Mode </a:t>
            </a:r>
            <a:r>
              <a:rPr sz="1300" b="1">
                <a:solidFill>
                  <a:srgbClr val="333333"/>
                </a:solidFill>
                <a:latin typeface="Calibri"/>
              </a:rPr>
              <a:t>2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Range 0–6 days · </a:t>
            </a:r>
            <a:r>
              <a:rPr sz="1300" b="1">
                <a:solidFill>
                  <a:srgbClr val="333333"/>
                </a:solidFill>
                <a:latin typeface="Calibri"/>
              </a:rPr>
              <a:t>No outliers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Tightly clustered → shipping time is well-controlled operationally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572000"/>
            <a:ext cx="2743200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$20.66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Avg discount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4572000"/>
            <a:ext cx="2743200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4709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$14.00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074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Median discount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572000"/>
            <a:ext cx="2743200" cy="9144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709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$500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74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Max discount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4572000"/>
            <a:ext cx="2286000" cy="9144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47091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4.18%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50749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Outliers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Discounts vary widely — a clear lever for margin management.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Late delivery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Calibri"/>
              </a:rPr>
              <a:t>54.83% of orders are late — and shipping mode is the lever</a:t>
            </a:r>
          </a:p>
        </p:txBody>
      </p:sp>
      <p:pic>
        <p:nvPicPr>
          <p:cNvPr id="6" name="Picture 5" descr="03_late_risk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3840480" cy="2862358"/>
          </a:xfrm>
          <a:prstGeom prst="rect">
            <a:avLst/>
          </a:prstGeom>
        </p:spPr>
      </p:pic>
      <p:pic>
        <p:nvPicPr>
          <p:cNvPr id="7" name="Picture 6" descr="04_late_by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05840"/>
            <a:ext cx="7772400" cy="51659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937760"/>
            <a:ext cx="111556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98,977 / 180,519</a:t>
            </a:r>
            <a:r>
              <a:rPr sz="1300" b="0">
                <a:solidFill>
                  <a:srgbClr val="333333"/>
                </a:solidFill>
                <a:latin typeface="Calibri"/>
              </a:rPr>
              <a:t> orders are flagged late — a coin flip per order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First Class (95.32%)</a:t>
            </a:r>
            <a:r>
              <a:rPr sz="1300" b="0">
                <a:solidFill>
                  <a:srgbClr val="333333"/>
                </a:solidFill>
                <a:latin typeface="Calibri"/>
              </a:rPr>
              <a:t> is the worst offender · </a:t>
            </a:r>
            <a:r>
              <a:rPr sz="1300" b="1">
                <a:solidFill>
                  <a:srgbClr val="333333"/>
                </a:solidFill>
                <a:latin typeface="Calibri"/>
              </a:rPr>
              <a:t>Standard Class (38.07%)</a:t>
            </a:r>
            <a:r>
              <a:rPr sz="1300" b="0">
                <a:solidFill>
                  <a:srgbClr val="333333"/>
                </a:solidFill>
                <a:latin typeface="Calibri"/>
              </a:rPr>
              <a:t> is the most reliable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DD7EE"/>
                </a:solidFill>
                <a:latin typeface="Calibri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Bivariate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8495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Calibri"/>
              </a:rPr>
              <a:t>12 relationship pairs · profit drivers · logistics dependencies · customer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Slide 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Profit drivers — sales &amp; discount</a:t>
            </a:r>
          </a:p>
        </p:txBody>
      </p:sp>
      <p:pic>
        <p:nvPicPr>
          <p:cNvPr id="5" name="Picture 4" descr="08_discount_vs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433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188720"/>
            <a:ext cx="43891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1">
                <a:solidFill>
                  <a:srgbClr val="333333"/>
                </a:solidFill>
                <a:latin typeface="Calibri"/>
              </a:rPr>
              <a:t>Sales ↔ Benefit: r = 0.1318 (weak)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Mean profit by sales band: Low $8.32 · Medium $16.00 · High $24.83 · Very High $40.48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1">
                <a:solidFill>
                  <a:srgbClr val="333333"/>
                </a:solidFill>
                <a:latin typeface="Calibri"/>
              </a:rPr>
              <a:t>Discount ↔ Benefit: r = 0.0648 (≈ zero)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Mean profit by discount band: Low $17.40 · Medium $18.51 · High $21.86 · Very High $30.16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Profit rises with discount because heavy-discount orders are also higher-ticket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Insight: Sales alone is a weak profit predictor; order composition matters more.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Customer &amp; category mix</a:t>
            </a:r>
          </a:p>
        </p:txBody>
      </p:sp>
      <p:pic>
        <p:nvPicPr>
          <p:cNvPr id="5" name="Picture 4" descr="05_segmen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486400" cy="3698615"/>
          </a:xfrm>
          <a:prstGeom prst="rect">
            <a:avLst/>
          </a:prstGeom>
        </p:spPr>
      </p:pic>
      <p:pic>
        <p:nvPicPr>
          <p:cNvPr id="6" name="Picture 5" descr="06_top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05840"/>
            <a:ext cx="5943600" cy="32611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937760"/>
            <a:ext cx="11430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Consumer </a:t>
            </a:r>
            <a:r>
              <a:rPr sz="1200" b="1">
                <a:solidFill>
                  <a:srgbClr val="333333"/>
                </a:solidFill>
                <a:latin typeface="Calibri"/>
              </a:rPr>
              <a:t>51.91%</a:t>
            </a:r>
            <a:r>
              <a:rPr sz="1200" b="0">
                <a:solidFill>
                  <a:srgbClr val="333333"/>
                </a:solidFill>
                <a:latin typeface="Calibri"/>
              </a:rPr>
              <a:t> · Corporate </a:t>
            </a:r>
            <a:r>
              <a:rPr sz="1200" b="1">
                <a:solidFill>
                  <a:srgbClr val="333333"/>
                </a:solidFill>
                <a:latin typeface="Calibri"/>
              </a:rPr>
              <a:t>30.36%</a:t>
            </a:r>
            <a:r>
              <a:rPr sz="1200" b="0">
                <a:solidFill>
                  <a:srgbClr val="333333"/>
                </a:solidFill>
                <a:latin typeface="Calibri"/>
              </a:rPr>
              <a:t> · Home Office </a:t>
            </a:r>
            <a:r>
              <a:rPr sz="1200" b="1">
                <a:solidFill>
                  <a:srgbClr val="333333"/>
                </a:solidFill>
                <a:latin typeface="Calibri"/>
              </a:rPr>
              <a:t>17.73%</a:t>
            </a:r>
            <a:r>
              <a:rPr sz="1200" b="0">
                <a:solidFill>
                  <a:srgbClr val="333333"/>
                </a:solidFill>
                <a:latin typeface="Calibri"/>
              </a:rPr>
              <a:t> of sales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Top 5 categories: Fishing $6.93M · Cleats $4.43M · Camping &amp; Hiking $4.12M · Cardio $3.69M · Women's Apparel $3.15M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Late-vs-on-time shipping days: </a:t>
            </a:r>
            <a:r>
              <a:rPr sz="1200" b="1">
                <a:solidFill>
                  <a:srgbClr val="333333"/>
                </a:solidFill>
                <a:latin typeface="Calibri"/>
              </a:rPr>
              <a:t>2.78</a:t>
            </a:r>
            <a:r>
              <a:rPr sz="1200" b="0">
                <a:solidFill>
                  <a:srgbClr val="333333"/>
                </a:solidFill>
                <a:latin typeface="Calibri"/>
              </a:rPr>
              <a:t> vs </a:t>
            </a:r>
            <a:r>
              <a:rPr sz="1200" b="1">
                <a:solidFill>
                  <a:srgbClr val="333333"/>
                </a:solidFill>
                <a:latin typeface="Calibri"/>
              </a:rPr>
              <a:t>4.09</a:t>
            </a:r>
            <a:r>
              <a:rPr sz="1200" b="0">
                <a:solidFill>
                  <a:srgbClr val="333333"/>
                </a:solidFill>
                <a:latin typeface="Calibri"/>
              </a:rPr>
              <a:t> — longer transit ⇒ higher late risk (r = 0.40)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Markets, regions &amp; order status</a:t>
            </a:r>
          </a:p>
        </p:txBody>
      </p:sp>
      <p:pic>
        <p:nvPicPr>
          <p:cNvPr id="5" name="Picture 4" descr="07_profit_by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3763155"/>
          </a:xfrm>
          <a:prstGeom prst="rect">
            <a:avLst/>
          </a:prstGeom>
        </p:spPr>
      </p:pic>
      <p:pic>
        <p:nvPicPr>
          <p:cNvPr id="6" name="Picture 5" descr="11_order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6126480" cy="3234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846320"/>
            <a:ext cx="11430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Top markets by profit: </a:t>
            </a:r>
            <a:r>
              <a:rPr sz="1200" b="1">
                <a:solidFill>
                  <a:srgbClr val="333333"/>
                </a:solidFill>
                <a:latin typeface="Calibri"/>
              </a:rPr>
              <a:t>Europe 29.48%</a:t>
            </a:r>
            <a:r>
              <a:rPr sz="1200" b="0">
                <a:solidFill>
                  <a:srgbClr val="333333"/>
                </a:solidFill>
                <a:latin typeface="Calibri"/>
              </a:rPr>
              <a:t> · </a:t>
            </a:r>
            <a:r>
              <a:rPr sz="1200" b="1">
                <a:solidFill>
                  <a:srgbClr val="333333"/>
                </a:solidFill>
                <a:latin typeface="Calibri"/>
              </a:rPr>
              <a:t>LATAM 28.32%</a:t>
            </a:r>
            <a:r>
              <a:rPr sz="1200" b="0">
                <a:solidFill>
                  <a:srgbClr val="333333"/>
                </a:solidFill>
                <a:latin typeface="Calibri"/>
              </a:rPr>
              <a:t> · </a:t>
            </a:r>
            <a:r>
              <a:rPr sz="1200" b="1">
                <a:solidFill>
                  <a:srgbClr val="333333"/>
                </a:solidFill>
                <a:latin typeface="Calibri"/>
              </a:rPr>
              <a:t>Pacific Asia 21.62%</a:t>
            </a:r>
            <a:r>
              <a:rPr sz="1200" b="0">
                <a:solidFill>
                  <a:srgbClr val="333333"/>
                </a:solidFill>
                <a:latin typeface="Calibri"/>
              </a:rPr>
              <a:t> · USCA 14.23% · Africa 6.35%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Top regions by sales: Western Europe $5.89M · Central America $5.67M · South America $2.96M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SUSPECTED_FRAUD is only </a:t>
            </a:r>
            <a:r>
              <a:rPr sz="1200" b="1">
                <a:solidFill>
                  <a:srgbClr val="333333"/>
                </a:solidFill>
                <a:latin typeface="Calibri"/>
              </a:rPr>
              <a:t>2.15%</a:t>
            </a:r>
            <a:r>
              <a:rPr sz="1200" b="0">
                <a:solidFill>
                  <a:srgbClr val="333333"/>
                </a:solidFill>
                <a:latin typeface="Calibri"/>
              </a:rPr>
              <a:t> of orders but worth monitoring — every % recovered drops straight to the bottom 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DD7EE"/>
                </a:solidFill>
                <a:latin typeface="Calibri"/>
              </a:rPr>
              <a:t>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Multivariate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8495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Calibri"/>
              </a:rPr>
              <a:t>Discount is a double-edged sword · First Class fails almost everywhere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Slide 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Multivariate findings</a:t>
            </a:r>
          </a:p>
        </p:txBody>
      </p:sp>
      <p:pic>
        <p:nvPicPr>
          <p:cNvPr id="5" name="Picture 4" descr="09_lat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41832"/>
            <a:ext cx="7772400" cy="61821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097280"/>
            <a:ext cx="3749039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1">
                <a:solidFill>
                  <a:srgbClr val="333333"/>
                </a:solidFill>
                <a:latin typeface="Calibri"/>
              </a:rPr>
              <a:t>First Class is late in 90%+ of regions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Canada 92% · Caribbean 95% · Central Asia 100% · East Africa 99%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Standard Class stays 28–42% late — most reliable everywhere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1">
                <a:solidFill>
                  <a:srgbClr val="333333"/>
                </a:solidFill>
                <a:latin typeface="Calibri"/>
              </a:rPr>
              <a:t>Discount × Category × Profit: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Helps: Electronics $9.74→$27.86, Cardio $24→$38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Hurts: Men's Footwear $15.00→$11.27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Insight: discount is a double-edged sword — promotes electronics/cardio, destroys apparel/footwear margin.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DD7EE"/>
                </a:solidFill>
                <a:latin typeface="Calibri"/>
              </a:rPr>
              <a:t>PHASE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Distributions &amp; the Central Limit Theorem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8495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Calibri"/>
              </a:rPr>
              <a:t>Sales is log-normal · late orders ≈ Bernoulli(p=0.55) · CLT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Slide 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Distribution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Bernoulli — late delivery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p = </a:t>
            </a:r>
            <a:r>
              <a:rPr sz="1300" b="1">
                <a:solidFill>
                  <a:srgbClr val="333333"/>
                </a:solidFill>
                <a:latin typeface="Calibri"/>
              </a:rPr>
              <a:t>0.5483</a:t>
            </a:r>
            <a:r>
              <a:rPr sz="1300" b="0">
                <a:solidFill>
                  <a:srgbClr val="333333"/>
                </a:solidFill>
                <a:latin typeface="Calibri"/>
              </a:rPr>
              <a:t> (q = 0.4517)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P(≤2 late in batch of 10) ≈ 2.81%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P(≥6 late in batch of 10) ≈ 50%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Poisson — daily orders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λ = </a:t>
            </a:r>
            <a:r>
              <a:rPr sz="1300" b="1">
                <a:solidFill>
                  <a:srgbClr val="333333"/>
                </a:solidFill>
                <a:latin typeface="Calibri"/>
              </a:rPr>
              <a:t>160.18</a:t>
            </a:r>
            <a:r>
              <a:rPr sz="1300" b="0">
                <a:solidFill>
                  <a:srgbClr val="333333"/>
                </a:solidFill>
                <a:latin typeface="Calibri"/>
              </a:rPr>
              <a:t> orders/day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Variance = 1,207 → slight over-dispersion (clustered order 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Normal — shipping days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μ = </a:t>
            </a:r>
            <a:r>
              <a:rPr sz="1300" b="1">
                <a:solidFill>
                  <a:srgbClr val="333333"/>
                </a:solidFill>
                <a:latin typeface="Calibri"/>
              </a:rPr>
              <a:t>3.50</a:t>
            </a:r>
            <a:r>
              <a:rPr sz="1300" b="0">
                <a:solidFill>
                  <a:srgbClr val="333333"/>
                </a:solidFill>
                <a:latin typeface="Calibri"/>
              </a:rPr>
              <a:t>, σ = </a:t>
            </a:r>
            <a:r>
              <a:rPr sz="1300" b="1">
                <a:solidFill>
                  <a:srgbClr val="333333"/>
                </a:solidFill>
                <a:latin typeface="Calibri"/>
              </a:rPr>
              <a:t>1.62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|z| &gt; 3 outliers = 0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Log-normal — sales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Skewness 2.88 → log-transformed −0.71 → confirms long-tail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Central Limit Theorem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Sample means μ_x̄ ≈ </a:t>
            </a:r>
            <a:r>
              <a:rPr sz="1300" b="1">
                <a:solidFill>
                  <a:srgbClr val="333333"/>
                </a:solidFill>
                <a:latin typeface="Calibri"/>
              </a:rPr>
              <a:t>$203.67</a:t>
            </a:r>
            <a:r>
              <a:rPr sz="1300" b="0">
                <a:solidFill>
                  <a:srgbClr val="333333"/>
                </a:solidFill>
                <a:latin typeface="Calibri"/>
              </a:rPr>
              <a:t> (true μ = $203.77)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Sample skewness → 0.32 (≈ normal)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DD7EE"/>
                </a:solidFill>
                <a:latin typeface="Calibri"/>
              </a:rPr>
              <a:t>PHASE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Hypothesis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8495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Calibri"/>
              </a:rPr>
              <a:t>t-test · Chi-square · ANOVA — with effect sizes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Slide 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Statistical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66928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1">
                <a:solidFill>
                  <a:srgbClr val="333333"/>
                </a:solidFill>
                <a:latin typeface="Calibri"/>
              </a:rPr>
              <a:t>Two-sample t-test (Consumer vs Corporate profit)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Means: $22.18 vs $21.95 · t = 0.4038 · p = 0.6864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Fail to reject H0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Cohen's d = </a:t>
            </a:r>
            <a:r>
              <a:rPr sz="1200" b="1">
                <a:solidFill>
                  <a:srgbClr val="333333"/>
                </a:solidFill>
                <a:latin typeface="Calibri"/>
              </a:rPr>
              <a:t>0.0022</a:t>
            </a:r>
            <a:r>
              <a:rPr sz="1200" b="0">
                <a:solidFill>
                  <a:srgbClr val="333333"/>
                </a:solidFill>
                <a:latin typeface="Calibri"/>
              </a:rPr>
              <a:t> → negligible effect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→ segments are statistically identical in profitability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1">
                <a:solidFill>
                  <a:srgbClr val="333333"/>
                </a:solidFill>
                <a:latin typeface="Calibri"/>
              </a:rPr>
              <a:t>ANOVA — Sales across Markets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F = 162.44 · p ≈ 4.66e-139 → reject H0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η² = </a:t>
            </a:r>
            <a:r>
              <a:rPr sz="1200" b="1">
                <a:solidFill>
                  <a:srgbClr val="333333"/>
                </a:solidFill>
                <a:latin typeface="Calibri"/>
              </a:rPr>
              <a:t>0.0036</a:t>
            </a:r>
            <a:r>
              <a:rPr sz="1200" b="0">
                <a:solidFill>
                  <a:srgbClr val="333333"/>
                </a:solidFill>
                <a:latin typeface="Calibri"/>
              </a:rPr>
              <a:t> → statistically real, practically tiny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1">
                <a:solidFill>
                  <a:srgbClr val="333333"/>
                </a:solidFill>
                <a:latin typeface="Calibri"/>
              </a:rPr>
              <a:t>Chi-square — Shipping Mode × Late Risk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χ² = 37,716.04 · df = 3 · p ≈ 0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→ reject H0: strong dependency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Cramér's V = </a:t>
            </a:r>
            <a:r>
              <a:rPr sz="1200" b="1">
                <a:solidFill>
                  <a:srgbClr val="333333"/>
                </a:solidFill>
                <a:latin typeface="Calibri"/>
              </a:rPr>
              <a:t>0.4571</a:t>
            </a:r>
            <a:r>
              <a:rPr sz="1200" b="0">
                <a:solidFill>
                  <a:srgbClr val="333333"/>
                </a:solidFill>
                <a:latin typeface="Calibri"/>
              </a:rPr>
              <a:t> → strong association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1">
                <a:solidFill>
                  <a:srgbClr val="333333"/>
                </a:solidFill>
                <a:latin typeface="Calibri"/>
              </a:rPr>
              <a:t>Key takeaway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Statistical significance ≠ business significance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 b="0">
                <a:solidFill>
                  <a:srgbClr val="333333"/>
                </a:solidFill>
                <a:latin typeface="Calibri"/>
              </a:rPr>
              <a:t>Always pair p-values with effect sizes (Cohen's d, η², Cramér's V) before acting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DD7EE"/>
                </a:solidFill>
                <a:latin typeface="Calibri"/>
              </a:rPr>
              <a:t>PHASE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Feature Engineering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8495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Calibri"/>
              </a:rPr>
              <a:t>10 ML features · 80/20 stratified split · 62 encoded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Slide 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Features built &amp;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56032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ML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56032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325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65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Encoded columns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256032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325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144,415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965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Train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188720"/>
            <a:ext cx="256032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1325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36,104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965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Test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68580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Engineered features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order_year, order_month, order_weekday, order_hour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shipping_delay = actual − scheduled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discount_band (Low / Medium / High / Very High)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profit_band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743200"/>
            <a:ext cx="42976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Leakage prevention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Removed columns that reveal the target: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Late_delivery_risk, Order Status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Train/test split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80/20 stratified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 b="0">
                <a:solidFill>
                  <a:srgbClr val="333333"/>
                </a:solidFill>
                <a:latin typeface="Calibri"/>
              </a:rPr>
              <a:t>Preserves class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Original shape (180,519, 55) → ML dataset (180,519, 10) → encoded (180,519, 62).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DD7EE"/>
                </a:solidFill>
                <a:latin typeface="Calibri"/>
              </a:rPr>
              <a:t>PHASE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Machine Learning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8495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Calibri"/>
              </a:rPr>
              <a:t>Late-delivery classifier · profit regressor · tuned Random Forest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Slide 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Classification — Late Delivery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74320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0.70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188720"/>
            <a:ext cx="274320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325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0.84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Precision (late)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2743200" cy="1188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0.55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Recall (late)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188720"/>
            <a:ext cx="219456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3258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0.66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9659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F1 (late)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Best model: Tuned Random Forest  ·  params: max_depth=15, n_estimators=50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3200400" cy="411480"/>
          </a:xfrm>
          <a:prstGeom prst="rect">
            <a:avLst/>
          </a:prstGeom>
          <a:solidFill>
            <a:srgbClr val="1F4E79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3108960"/>
            <a:ext cx="1828800" cy="411480"/>
          </a:xfrm>
          <a:prstGeom prst="rect">
            <a:avLst/>
          </a:prstGeom>
          <a:solidFill>
            <a:srgbClr val="1F4E79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0" y="31089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3108960"/>
            <a:ext cx="1828800" cy="411480"/>
          </a:xfrm>
          <a:prstGeom prst="rect">
            <a:avLst/>
          </a:prstGeom>
          <a:solidFill>
            <a:srgbClr val="1F4E79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0" y="31089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3108960"/>
            <a:ext cx="1828800" cy="411480"/>
          </a:xfrm>
          <a:prstGeom prst="rect">
            <a:avLst/>
          </a:prstGeom>
          <a:solidFill>
            <a:srgbClr val="1F4E79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0" y="31089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3108960"/>
            <a:ext cx="1828800" cy="411480"/>
          </a:xfrm>
          <a:prstGeom prst="rect">
            <a:avLst/>
          </a:prstGeom>
          <a:solidFill>
            <a:srgbClr val="1F4E79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0" y="31089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F1 (late)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2044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5204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Logistic Regression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40" y="35204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49040" y="35204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0.6967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5204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77840" y="35204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0.8502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5204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06640" y="35204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0.5425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5204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35440" y="35204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0.66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931920"/>
            <a:ext cx="32004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39319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Decision Tree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40" y="3931920"/>
            <a:ext cx="18288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49040" y="39319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0.6932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3931920"/>
            <a:ext cx="18288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77840" y="39319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0.8293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3931920"/>
            <a:ext cx="18288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06640" y="39319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0.5545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3931920"/>
            <a:ext cx="18288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35440" y="39319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0.66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34340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43434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Random Forest (base)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0" y="43434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49040" y="43434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0.6949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43434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77840" y="43434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0.8230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6640" y="43434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06640" y="43434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0.5651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43434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35440" y="43434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0.67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754880"/>
            <a:ext cx="32004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475488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Random Forest (tuned)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9040" y="4754880"/>
            <a:ext cx="18288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749040" y="47548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0.7000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4754880"/>
            <a:ext cx="18288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577840" y="47548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0.8400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4754880"/>
            <a:ext cx="18288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406640" y="47548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0.5500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4754880"/>
            <a:ext cx="18288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235440" y="47548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0.66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516636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8640" y="51663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RF + SMOTE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40" y="51663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749040" y="51663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0.7000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77840" y="51663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577840" y="51663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0.8500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06640" y="51663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406640" y="51663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0.5460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35440" y="51663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235440" y="51663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0.66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Insight: 55% recall on the late class means we catch roughly 1 in 2 late orders before they ship.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Regression — Benefit per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74320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$100.64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Tuned RMSE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188720"/>
            <a:ext cx="274320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325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0.0148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Tuned R²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274320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max_depth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188720"/>
            <a:ext cx="219456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3258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9659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n_estimators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3200400" cy="457200"/>
          </a:xfrm>
          <a:prstGeom prst="rect">
            <a:avLst/>
          </a:prstGeom>
          <a:solidFill>
            <a:srgbClr val="1F4E79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743200"/>
            <a:ext cx="1828800" cy="457200"/>
          </a:xfrm>
          <a:prstGeom prst="rect">
            <a:avLst/>
          </a:prstGeom>
          <a:solidFill>
            <a:srgbClr val="1F4E79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49040" y="2743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743200"/>
            <a:ext cx="1828800" cy="457200"/>
          </a:xfrm>
          <a:prstGeom prst="rect">
            <a:avLst/>
          </a:prstGeom>
          <a:solidFill>
            <a:srgbClr val="1F4E79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0" y="2743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743200"/>
            <a:ext cx="4114800" cy="457200"/>
          </a:xfrm>
          <a:prstGeom prst="rect">
            <a:avLst/>
          </a:prstGeom>
          <a:solidFill>
            <a:srgbClr val="1F4E79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0" y="27432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2004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Linear 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32004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40" y="32004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$100.25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2004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32004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0.0224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2004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06640" y="3200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Baseline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657600"/>
            <a:ext cx="32004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6576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Decision Tree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3657600"/>
            <a:ext cx="18288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49040" y="3657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$106.63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3657600"/>
            <a:ext cx="18288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77840" y="3657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−0.1061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657600"/>
            <a:ext cx="41148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06640" y="36576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Over-fits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11480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41148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Random Forest (base)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41148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49040" y="4114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$101.62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41148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4114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−0.0046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41148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06640" y="41148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Slight over-fit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572000"/>
            <a:ext cx="32004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45720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Random Forest (tuned)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40" y="4572000"/>
            <a:ext cx="18288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49040" y="45720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$100.64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4572000"/>
            <a:ext cx="18288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77840" y="45720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0.0148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4572000"/>
            <a:ext cx="41148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06640" y="45720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Best overall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Insight: profit is dominated by noise + outliers; predictive signal in current features is weak.</a:t>
            </a:r>
          </a:p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Discount and order composition matter more than anything captured here.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Power BI dashboard — page tour</a:t>
            </a:r>
          </a:p>
        </p:txBody>
      </p:sp>
      <p:pic>
        <p:nvPicPr>
          <p:cNvPr id="5" name="Picture 4" descr="15_monthly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3823368"/>
          </a:xfrm>
          <a:prstGeom prst="rect">
            <a:avLst/>
          </a:prstGeom>
        </p:spPr>
      </p:pic>
      <p:pic>
        <p:nvPicPr>
          <p:cNvPr id="6" name="Picture 5" descr="12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669280" cy="45109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114800"/>
            <a:ext cx="114300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1">
                <a:solidFill>
                  <a:srgbClr val="333333"/>
                </a:solidFill>
                <a:latin typeface="Calibri"/>
              </a:rPr>
              <a:t>Page 1 — Overview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KPI tiles: Total Sales $36.78M · Total Profit $3.97M · Orders 180,519 · Late % 54.83%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1">
                <a:solidFill>
                  <a:srgbClr val="333333"/>
                </a:solidFill>
                <a:latin typeface="Calibri"/>
              </a:rPr>
              <a:t>Page 2 — Profitability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Sales vs Profit by Category · Discount vs Profit · Top 5 categories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1">
                <a:solidFill>
                  <a:srgbClr val="333333"/>
                </a:solidFill>
                <a:latin typeface="Calibri"/>
              </a:rPr>
              <a:t>Page 3 — Logistics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Late delivery heatmap (Region × Shipping Mode) · Avg shipping days by mode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1">
                <a:solidFill>
                  <a:srgbClr val="333333"/>
                </a:solidFill>
                <a:latin typeface="Calibri"/>
              </a:rPr>
              <a:t>Page 4 — Customers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Segment contribution · Top regions &amp; countries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1">
                <a:solidFill>
                  <a:srgbClr val="333333"/>
                </a:solidFill>
                <a:latin typeface="Calibri"/>
              </a:rPr>
              <a:t>Page 5 — ML Output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Confusion matrix · Classification report · Feature importance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9728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1. Cap discount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Cap at the 75th-percentile ($29.99). Protects margin in Men's Footwear, Women's Apparel and Cleats where heavy discounts erode profit.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27432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109728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2. Re-route First/Second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 regions with &gt;90% late rate (Canada, Caribbean, Central Asia, East Africa, East of USA, Eastern Asia, Eastern Europe, North Africa), switch to Standard Class where appropriate.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27432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09728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3. Deploy the late-delivery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Catches 55% of late orders before they ship — embed the tuned Random Forest into the order-routing workflow.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27432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109728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4. Focus growth investment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Europe (29.48% of profit) + LATAM (28.32%); Fishing, Cleats and Camping categories lead the top 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27432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5212080"/>
            <a:ext cx="109728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5. Re-train quarterly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Refresh models as new orders arrive; expand the feature set with carrier and inventory data to lift recall.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Supply Chain Analytics  ·  Project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Slide 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Next steps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34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BDD7EE"/>
                </a:solidFill>
                <a:latin typeface="Calibri"/>
              </a:rPr>
              <a:t>Add real-time carrier &amp; weather feeds → lift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8534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BDD7EE"/>
                </a:solidFill>
                <a:latin typeface="Calibri"/>
              </a:rPr>
              <a:t>Build a fraud-specific classifier on SUSPECTED_FRAUD subset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BDD7EE"/>
                </a:solidFill>
                <a:latin typeface="Calibri"/>
              </a:rPr>
              <a:t>Move Power BI dashboard to a scheduled daily refresh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8534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BDD7EE"/>
                </a:solidFill>
                <a:latin typeface="Calibri"/>
              </a:rPr>
              <a:t>Track KPI movement: Late % · Avg Profit/Order · Discount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66928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Slide 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2197</Words>
  <Application>Microsoft Office PowerPoint</Application>
  <PresentationFormat>Widescreen</PresentationFormat>
  <Paragraphs>343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D</cp:lastModifiedBy>
  <cp:revision>1</cp:revision>
  <dcterms:created xsi:type="dcterms:W3CDTF">2013-01-27T09:14:16Z</dcterms:created>
  <dcterms:modified xsi:type="dcterms:W3CDTF">2026-08-24T09:48:50Z</dcterms:modified>
  <cp:category/>
</cp:coreProperties>
</file>